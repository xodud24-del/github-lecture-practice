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9" r:id="rId10"/>
    <p:sldId id="263" r:id="rId11"/>
    <p:sldId id="273" r:id="rId12"/>
    <p:sldId id="264" r:id="rId13"/>
    <p:sldId id="270" r:id="rId14"/>
    <p:sldId id="265" r:id="rId15"/>
    <p:sldId id="266" r:id="rId16"/>
    <p:sldId id="274" r:id="rId17"/>
    <p:sldId id="271" r:id="rId18"/>
    <p:sldId id="267" r:id="rId19"/>
    <p:sldId id="268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60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30363D">
              <a:alpha val="40000"/>
            </a:srgbClr>
          </a:solidFill>
          <a:ln w="12700">
            <a:solidFill>
              <a:srgbClr val="30363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9144"/>
          </a:xfrm>
          <a:prstGeom prst="rect">
            <a:avLst/>
          </a:prstGeom>
          <a:solidFill>
            <a:srgbClr val="30363D">
              <a:alpha val="40000"/>
            </a:srgbClr>
          </a:solidFill>
          <a:ln w="12700">
            <a:solidFill>
              <a:srgbClr val="30363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9144000" cy="9144"/>
          </a:xfrm>
          <a:prstGeom prst="rect">
            <a:avLst/>
          </a:prstGeom>
          <a:solidFill>
            <a:srgbClr val="30363D">
              <a:alpha val="40000"/>
            </a:srgbClr>
          </a:solidFill>
          <a:ln w="12700">
            <a:solidFill>
              <a:srgbClr val="30363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9144000" cy="9144"/>
          </a:xfrm>
          <a:prstGeom prst="rect">
            <a:avLst/>
          </a:prstGeom>
          <a:solidFill>
            <a:srgbClr val="30363D">
              <a:alpha val="40000"/>
            </a:srgbClr>
          </a:solidFill>
          <a:ln w="12700">
            <a:solidFill>
              <a:srgbClr val="30363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9144000" cy="9144"/>
          </a:xfrm>
          <a:prstGeom prst="rect">
            <a:avLst/>
          </a:prstGeom>
          <a:solidFill>
            <a:srgbClr val="30363D">
              <a:alpha val="40000"/>
            </a:srgbClr>
          </a:solidFill>
          <a:ln w="12700">
            <a:solidFill>
              <a:srgbClr val="30363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9144000" cy="9144"/>
          </a:xfrm>
          <a:prstGeom prst="rect">
            <a:avLst/>
          </a:prstGeom>
          <a:solidFill>
            <a:srgbClr val="30363D">
              <a:alpha val="40000"/>
            </a:srgbClr>
          </a:solidFill>
          <a:ln w="12700">
            <a:solidFill>
              <a:srgbClr val="30363D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931920" y="640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FF"/>
                </a:solidFill>
              </a:rPr>
              <a:t>⬡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특강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정신부터 첫 커밋까지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'나의 첫 번째 커밋'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배울 것들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02920"/>
          </a:xfrm>
          <a:prstGeom prst="rect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정신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공유하는가?  리눅스·Python·VS Code의 비밀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0" cy="502920"/>
          </a:xfrm>
          <a:prstGeom prst="rect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핵심 개념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Commit, Branch, Fork, Pull Request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48640" cy="502920"/>
          </a:xfrm>
          <a:prstGeom prst="rect">
            <a:avLst/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A — 첫 커밋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017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웹에서 Python 파일 만들고 커밋하기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0" cy="502920"/>
          </a:xfrm>
          <a:prstGeom prst="rect">
            <a:avLst/>
          </a:prstGeom>
          <a:solidFill>
            <a:srgbClr val="BC8CFF">
              <a:alpha val="8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B — Fork &amp; Clone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8404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프로젝트 복사하고 기여의 첫 걸음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548640" cy="502920"/>
          </a:xfrm>
          <a:prstGeom prst="rect">
            <a:avLst/>
          </a:prstGeom>
          <a:solidFill>
            <a:srgbClr val="E3B341">
              <a:alpha val="8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343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&amp; 다음 단계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617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포트폴리오로서의 GitHub, 설치 가이드 QR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이런 파일 만들어본 적 있으신가요?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76809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97280" y="89611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주제탐구발표.pptx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335024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주제탐구발표_최종.pptx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1773936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주제탐구발표_최종2.pptx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21284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주제탐구발표_진짜최종.pptx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주제탐구발표_진짜최종_이게맞음.pptx  😱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768096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코드도 똑같습니다.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05072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어제까지 잘 돌아가던 코드를 수정했더니 오류가 납니다.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 버전으로 돌아가고 싶은데 방법이 없어요.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4709160"/>
            <a:ext cx="4023360" cy="292608"/>
          </a:xfrm>
          <a:prstGeom prst="rect">
            <a:avLst/>
          </a:prstGeom>
          <a:solidFill>
            <a:srgbClr val="1A282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60320" y="4709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관리가 필요한 이유입니다.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Git은 어떻게 탄생했을까요?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0" y="777240"/>
            <a:ext cx="36576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457200"/>
          </a:xfrm>
          <a:prstGeom prst="rect">
            <a:avLst/>
          </a:prstGeom>
          <a:solidFill>
            <a:srgbClr val="58A6FF">
              <a:alpha val="9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207008"/>
            <a:ext cx="2286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920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19202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 시작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핀란드 대학원생 리누스 토르발스,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혼자서 운영체제를 만들기 시작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20240" cy="457200"/>
          </a:xfrm>
          <a:prstGeom prst="rect">
            <a:avLst/>
          </a:prstGeom>
          <a:solidFill>
            <a:srgbClr val="3FB950">
              <a:alpha val="9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1991~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34840" y="1207008"/>
            <a:ext cx="2286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514600" y="1554480"/>
            <a:ext cx="1920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514600" y="1554480"/>
            <a:ext cx="1920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60604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세계가 합류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21031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소스코드를 인터넷에 공개하자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개발자들이 기여하기 시작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solidFill>
            <a:srgbClr val="F0883E">
              <a:alpha val="9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1207008"/>
            <a:ext cx="2286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1920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1920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탄생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1031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수천 명의 협업을 관리하려면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 도구가 필요 → 직접 만듦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005840"/>
            <a:ext cx="1920240" cy="457200"/>
          </a:xfrm>
          <a:prstGeom prst="rect">
            <a:avLst/>
          </a:prstGeom>
          <a:solidFill>
            <a:srgbClr val="BC8CFF">
              <a:alpha val="9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1228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12280" y="1554480"/>
            <a:ext cx="19202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812280" y="1554480"/>
            <a:ext cx="19202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90372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90% = Linux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1031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여러분이 쓰는 유튜브, 구글,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서버가 모두 Linux 위에서 동작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82296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" y="37947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Git은 버전 관리 도구이자, 오픈소스 협업의 산물입니다.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371600" y="4251960"/>
            <a:ext cx="6400800" cy="640080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554480" y="42519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"내가 더 멀리 볼 수 있었던 것은 거인의 어깨 위에 올라섰기 때문이다."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6634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아이작 뉴턴 / 오픈소스 세계가 딱 이렇습니다.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매일 쓰는 것들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651760" cy="731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🐧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서버 90%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383280" y="1051560"/>
            <a:ext cx="265176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83280" y="1143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쓰는 그 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65176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17920" y="1143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Microsoft가 무료 공개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265176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프레임워크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88036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383280" y="2880360"/>
            <a:ext cx="265176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383280" y="2971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8328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배울 바로 그것!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오픈소스!  누구나 코드를 보고, 수정하고, 기여할 수 있어요.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 — 무료 ≠ 마음대로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2286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뭐든 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출처만 밝혀줘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React, VS Code, Flask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651760" cy="6400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91840" y="1051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🔴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423160"/>
            <a:ext cx="2286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91840" y="2468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수정했으면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너도 공개해야 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Linux, Git, WordPress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26480" y="1051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🟡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2648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423160"/>
            <a:ext cx="2286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26480" y="2468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+ 특허 보호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친화적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Android, TensorFlow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choosealicense.com 에서 자세히 비교할 수 있어요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핵심 개념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1188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폴더 전체 (코드 + 역사)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54864" cy="1188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92040" y="10058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2356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내역 저장 — 게임의 세이브 포인트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54864" cy="1188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233172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880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메인에서 뻗어나온 가지, 독립된 작업 공간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54864" cy="1188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92040" y="233172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🍴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2356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880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남의 프로젝트를 내 계정으로 복사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54864" cy="1188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8016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 ↔ GitHub 원격 동기화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411480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800600" y="3657600"/>
            <a:ext cx="54864" cy="1188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92040" y="36576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62356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2356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수정 사항을 원작자에게 제안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Repository 만들고 Python 파일 커밋하기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54864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것: GitHub 계정, 브라우저  ( 설치 없음! )</a:t>
            </a:r>
            <a:endParaRPr lang="en-US" sz="1400" dirty="0"/>
          </a:p>
          <a:p>
            <a:pPr algn="ctr"/>
            <a:r>
              <a:rPr sz="1100" dirty="0">
                <a:solidFill>
                  <a:srgbClr val="F0883E"/>
                </a:solidFill>
              </a:rPr>
              <a:t>⚠️  </a:t>
            </a:r>
            <a:r>
              <a:rPr sz="1100" dirty="0" err="1">
                <a:solidFill>
                  <a:srgbClr val="F0883E"/>
                </a:solidFill>
              </a:rPr>
              <a:t>GitHub는</a:t>
            </a:r>
            <a:r>
              <a:rPr sz="1100" dirty="0">
                <a:solidFill>
                  <a:srgbClr val="F0883E"/>
                </a:solidFill>
              </a:rPr>
              <a:t> </a:t>
            </a:r>
            <a:r>
              <a:rPr sz="1100" dirty="0" err="1">
                <a:solidFill>
                  <a:srgbClr val="F0883E"/>
                </a:solidFill>
              </a:rPr>
              <a:t>코드를</a:t>
            </a:r>
            <a:r>
              <a:rPr sz="1100" dirty="0">
                <a:solidFill>
                  <a:srgbClr val="F0883E"/>
                </a:solidFill>
              </a:rPr>
              <a:t> </a:t>
            </a:r>
            <a:r>
              <a:rPr sz="1100" dirty="0" err="1">
                <a:solidFill>
                  <a:srgbClr val="F0883E"/>
                </a:solidFill>
              </a:rPr>
              <a:t>실행하는</a:t>
            </a:r>
            <a:r>
              <a:rPr sz="1100" dirty="0">
                <a:solidFill>
                  <a:srgbClr val="F0883E"/>
                </a:solidFill>
              </a:rPr>
              <a:t> </a:t>
            </a:r>
            <a:r>
              <a:rPr sz="1100" dirty="0" err="1">
                <a:solidFill>
                  <a:srgbClr val="F0883E"/>
                </a:solidFill>
              </a:rPr>
              <a:t>곳이</a:t>
            </a:r>
            <a:r>
              <a:rPr sz="1100" dirty="0">
                <a:solidFill>
                  <a:srgbClr val="F0883E"/>
                </a:solidFill>
              </a:rPr>
              <a:t> </a:t>
            </a:r>
            <a:r>
              <a:rPr sz="1100" dirty="0" err="1">
                <a:solidFill>
                  <a:srgbClr val="F0883E"/>
                </a:solidFill>
              </a:rPr>
              <a:t>아니라</a:t>
            </a:r>
            <a:r>
              <a:rPr sz="1100" dirty="0">
                <a:solidFill>
                  <a:srgbClr val="F0883E"/>
                </a:solidFill>
              </a:rPr>
              <a:t> </a:t>
            </a:r>
            <a:r>
              <a:rPr sz="1100" dirty="0" err="1">
                <a:solidFill>
                  <a:srgbClr val="F0883E"/>
                </a:solidFill>
              </a:rPr>
              <a:t>저장하는</a:t>
            </a:r>
            <a:r>
              <a:rPr sz="1100" dirty="0">
                <a:solidFill>
                  <a:srgbClr val="F0883E"/>
                </a:solidFill>
              </a:rPr>
              <a:t> </a:t>
            </a:r>
            <a:r>
              <a:rPr sz="1100" dirty="0" err="1">
                <a:solidFill>
                  <a:srgbClr val="F0883E"/>
                </a:solidFill>
              </a:rPr>
              <a:t>곳이에요</a:t>
            </a:r>
            <a:r>
              <a:rPr sz="1100" dirty="0">
                <a:solidFill>
                  <a:srgbClr val="F0883E"/>
                </a:solidFill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5829902-A1D5-9279-9384-BE919D65E4A2}"/>
              </a:ext>
            </a:extLst>
          </p:cNvPr>
          <p:cNvGrpSpPr/>
          <p:nvPr/>
        </p:nvGrpSpPr>
        <p:grpSpPr>
          <a:xfrm>
            <a:off x="2286000" y="3840480"/>
            <a:ext cx="4572000" cy="914400"/>
            <a:chOff x="2286000" y="3840480"/>
            <a:chExt cx="4572000" cy="914400"/>
          </a:xfrm>
        </p:grpSpPr>
        <p:sp>
          <p:nvSpPr>
            <p:cNvPr id="9" name="Shape 7"/>
            <p:cNvSpPr/>
            <p:nvPr/>
          </p:nvSpPr>
          <p:spPr>
            <a:xfrm>
              <a:off x="2286000" y="3840480"/>
              <a:ext cx="4572000" cy="914400"/>
            </a:xfrm>
            <a:prstGeom prst="rect">
              <a:avLst/>
            </a:prstGeom>
            <a:solidFill>
              <a:srgbClr val="0D1117"/>
            </a:solidFill>
            <a:ln w="12700">
              <a:solidFill>
                <a:srgbClr val="3036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0" name="Text 8"/>
            <p:cNvSpPr/>
            <p:nvPr/>
          </p:nvSpPr>
          <p:spPr>
            <a:xfrm>
              <a:off x="2377440" y="3931920"/>
              <a:ext cx="4389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나의 첫 번째 Python 파일</a:t>
              </a:r>
              <a:endParaRPr lang="en-US" sz="1200" dirty="0"/>
            </a:p>
            <a:p>
              <a:r>
                <a:rPr sz="1100" dirty="0">
                  <a:solidFill>
                    <a:srgbClr val="58A6FF"/>
                  </a:solidFill>
                  <a:latin typeface="Consolas"/>
                </a:rPr>
                <a:t>print("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안녕하세요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! 첫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커밋을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축하합니다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")</a:t>
              </a:r>
            </a:p>
            <a:p>
              <a:r>
                <a:rPr sz="1100" dirty="0">
                  <a:solidFill>
                    <a:srgbClr val="58A6FF"/>
                  </a:solidFill>
                  <a:latin typeface="Consolas"/>
                </a:rPr>
                <a:t>print("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GitHub는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코드를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저장하는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곳이에요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.")</a:t>
              </a:r>
            </a:p>
          </p:txBody>
        </p:sp>
      </p:grpSp>
      <p:sp>
        <p:nvSpPr>
          <p:cNvPr id="11" name="Text 9"/>
          <p:cNvSpPr/>
          <p:nvPr/>
        </p:nvSpPr>
        <p:spPr>
          <a:xfrm>
            <a:off x="237744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033272"/>
            <a:ext cx="76352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88720" y="103327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접속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1581912"/>
            <a:ext cx="76352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88720" y="158191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우측 상단 'Sign up' 클릭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2130552"/>
            <a:ext cx="76352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88720" y="213055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이메일 입력 (학교 계정 ❌ — 졸업 후 사라져요!)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2679192"/>
            <a:ext cx="76352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20" y="267919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&amp; 사용자명 설정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" y="3227832"/>
            <a:ext cx="76352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322783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이메일로 온 인증 코드 입력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solidFill>
            <a:srgbClr val="3FB950">
              <a:alpha val="8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" y="3776472"/>
            <a:ext cx="76352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377647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완료! 대시보드 확인 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94360" y="4434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사용자명(username)은 나중에 바꾸기 어려워요 — github.com/username 으로 내 페이지 주소가 돼요!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A — 단계별 진행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" cy="50292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033272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88720" y="103327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접속 → 우측 상단 '+' → New repository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457200" cy="50292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1700784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88720" y="17007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이름 입력 → 'Add a README file' ✅ 체크 → Create repository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457200" cy="50292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340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2368296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88720" y="236829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'Add file' → 'Create new file' → 파일명: hello.py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457200" cy="50292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3035808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20" y="30358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 작성 후 'Commit changes' 버튼 클릭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457200" cy="502920"/>
          </a:xfrm>
          <a:prstGeom prst="rect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" y="3703320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37033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 입력 (예: '첫 번째 커밋') → Commit!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457200" cy="502920"/>
          </a:xfrm>
          <a:prstGeom prst="rect">
            <a:avLst/>
          </a:prstGeom>
          <a:solidFill>
            <a:srgbClr val="3FB950">
              <a:alpha val="8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" y="4370832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437083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클릭 → 커밋 내역 확인 ✅</a:t>
            </a:r>
            <a:endParaRPr lang="en-US" sz="13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D19BFD9-DAC3-FF57-EB0E-70C63CD77428}"/>
              </a:ext>
            </a:extLst>
          </p:cNvPr>
          <p:cNvGrpSpPr/>
          <p:nvPr/>
        </p:nvGrpSpPr>
        <p:grpSpPr>
          <a:xfrm>
            <a:off x="5388429" y="2616490"/>
            <a:ext cx="4572000" cy="914400"/>
            <a:chOff x="2286000" y="3840480"/>
            <a:chExt cx="4572000" cy="914400"/>
          </a:xfrm>
        </p:grpSpPr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FFEAB1AF-7272-C6CE-2544-717B07C90DAD}"/>
                </a:ext>
              </a:extLst>
            </p:cNvPr>
            <p:cNvSpPr/>
            <p:nvPr/>
          </p:nvSpPr>
          <p:spPr>
            <a:xfrm>
              <a:off x="2286000" y="3840480"/>
              <a:ext cx="4572000" cy="914400"/>
            </a:xfrm>
            <a:prstGeom prst="rect">
              <a:avLst/>
            </a:prstGeom>
            <a:solidFill>
              <a:srgbClr val="0D1117"/>
            </a:solidFill>
            <a:ln w="12700">
              <a:solidFill>
                <a:srgbClr val="30363D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40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5FA0D4F3-5562-EE32-F61C-F2C74948F17F}"/>
                </a:ext>
              </a:extLst>
            </p:cNvPr>
            <p:cNvSpPr/>
            <p:nvPr/>
          </p:nvSpPr>
          <p:spPr>
            <a:xfrm>
              <a:off x="2377440" y="3931920"/>
              <a:ext cx="4389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나의 첫 번째 Python 파일</a:t>
              </a:r>
              <a:endParaRPr lang="en-US" sz="1200" dirty="0"/>
            </a:p>
            <a:p>
              <a:r>
                <a:rPr sz="1100" dirty="0">
                  <a:solidFill>
                    <a:srgbClr val="58A6FF"/>
                  </a:solidFill>
                  <a:latin typeface="Consolas"/>
                </a:rPr>
                <a:t>print("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안녕하세요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! 첫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커밋을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축하합니다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🎉")</a:t>
              </a:r>
            </a:p>
            <a:p>
              <a:r>
                <a:rPr sz="1100" dirty="0">
                  <a:solidFill>
                    <a:srgbClr val="58A6FF"/>
                  </a:solidFill>
                  <a:latin typeface="Consolas"/>
                </a:rPr>
                <a:t>print("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GitHub는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코드를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저장하는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 </a:t>
              </a:r>
              <a:r>
                <a:rPr sz="1100" dirty="0" err="1">
                  <a:solidFill>
                    <a:srgbClr val="58A6FF"/>
                  </a:solidFill>
                  <a:latin typeface="Consolas"/>
                </a:rPr>
                <a:t>곳이에요</a:t>
              </a:r>
              <a:r>
                <a:rPr sz="1100" dirty="0">
                  <a:solidFill>
                    <a:srgbClr val="58A6FF"/>
                  </a:solidFill>
                  <a:latin typeface="Consolas"/>
                </a:rPr>
                <a:t>.")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직접 꾸미기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입력 (마크다운)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나의 첫 번째 프로젝트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소개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프로젝트는 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**Python** 으로 만들었어요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한 줄 강조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기능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기능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화면에 보이는 결과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첫 번째 프로젝트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3657600" cy="27432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프로젝트는 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으로 만들었어요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54864" cy="320040"/>
          </a:xfrm>
          <a:prstGeom prst="rect">
            <a:avLst/>
          </a:prstGeom>
          <a:solidFill>
            <a:srgbClr val="0366D6"/>
          </a:solidFill>
          <a:ln w="12700">
            <a:solidFill>
              <a:srgbClr val="0366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834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강조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기능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기능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8229600" cy="1371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5분 — 내 저장소 README.md 파일을 만들고 자유롭게 꾸며보세요!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B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Pull Request — 오픈소스 기여의 첫 걸음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 Fork =  레시피 복사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맛집의 레시피를 내 노트에 복사해서 내 입맛대로 바꾸는 것처럼,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프로젝트를 내 계정으로 복사해서 자유롭게 수정할 수 있어요.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297680"/>
            <a:ext cx="73152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Pull Request =  "제가 개선했어요, 반영해주실래요?"  라고 원작자에게 제안하는 것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잠깐! 옆 사람에게 설명해보기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30초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중 하나를 골라서 옆 사람에게 설명해보세요!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4864" cy="10058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그냥 폴더랑 다를까?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65176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00600" y="2651760"/>
            <a:ext cx="54864" cy="10058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그냥 저장이랑 뭐가 달라?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54864" cy="10058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복사(Ctrl+C)랑 뭐가 달라?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794760"/>
            <a:ext cx="4114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800600" y="3794760"/>
            <a:ext cx="54864" cy="10058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83480" y="3886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직접 수정 안 하고 PR을 쓸까?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B — 단계별 진행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" cy="502920"/>
          </a:xfrm>
          <a:prstGeom prst="rect">
            <a:avLst/>
          </a:prstGeom>
          <a:solidFill>
            <a:srgbClr val="BC8CFF">
              <a:alpha val="8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033272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88720" y="103327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선생님 저장소 접속 ( github.com/gbshs/github-lecture-practice 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457200" cy="502920"/>
          </a:xfrm>
          <a:prstGeom prst="rect">
            <a:avLst/>
          </a:prstGeom>
          <a:solidFill>
            <a:srgbClr val="BC8CFF">
              <a:alpha val="8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1700784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88720" y="17007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상단 'Fork' 버튼 클릭 → 내 계정으로 복사됨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457200" cy="502920"/>
          </a:xfrm>
          <a:prstGeom prst="rect">
            <a:avLst/>
          </a:prstGeom>
          <a:solidFill>
            <a:srgbClr val="BC8CFF">
              <a:alpha val="8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2340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2368296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88720" y="236829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CONTRIBUTORS.md 클릭 → 연필 아이콘(✏️)으로 수정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457200" cy="502920"/>
          </a:xfrm>
          <a:prstGeom prst="rect">
            <a:avLst/>
          </a:prstGeom>
          <a:solidFill>
            <a:srgbClr val="BC8CFF">
              <a:alpha val="8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3035808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20" y="30358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'Commit changes'로 저장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457200" cy="502920"/>
          </a:xfrm>
          <a:prstGeom prst="rect">
            <a:avLst/>
          </a:prstGeom>
          <a:solidFill>
            <a:srgbClr val="BC8CFF">
              <a:alpha val="8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" y="3703320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37033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'Contribute' → 'Open Pull Request' 버튼 확인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457200" cy="502920"/>
          </a:xfrm>
          <a:prstGeom prst="rect">
            <a:avLst/>
          </a:prstGeom>
          <a:solidFill>
            <a:srgbClr val="3FB950">
              <a:alpha val="8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" y="4370832"/>
            <a:ext cx="76352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437083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전송! 선생님이 merge하면 내 이름이 공식 저장소에 올라가요 🎉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Profile = 나의 포트폴리오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R&amp;E 분석 코드 — 지도 교사와 공유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프로젝트 — 역할 분담, 버전 충돌 없이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대회/공모전 — 코드 이력이 증거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34440" y="39319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대입 자소서 — 실제 프로젝트 링크 첨부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292608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 graph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684264" y="1600200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031736" y="1600200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79208" y="1600200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726680" y="1600200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074152" y="1600200"/>
            <a:ext cx="274320" cy="274320"/>
          </a:xfrm>
          <a:prstGeom prst="rect">
            <a:avLst/>
          </a:prstGeom>
          <a:solidFill>
            <a:srgbClr val="26A641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89320" y="1947672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336792" y="1947672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684264" y="1947672"/>
            <a:ext cx="274320" cy="274320"/>
          </a:xfrm>
          <a:prstGeom prst="rect">
            <a:avLst/>
          </a:prstGeom>
          <a:solidFill>
            <a:srgbClr val="26A641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031736" y="1947672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379208" y="1947672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726680" y="1947672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074152" y="1947672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89320" y="2295144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336792" y="2295144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684264" y="2295144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031736" y="2295144"/>
            <a:ext cx="274320" cy="274320"/>
          </a:xfrm>
          <a:prstGeom prst="rect">
            <a:avLst/>
          </a:prstGeom>
          <a:solidFill>
            <a:srgbClr val="26A641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379208" y="2295144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726680" y="2295144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074152" y="2295144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89320" y="2642616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36792" y="2642616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684264" y="2642616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7031736" y="2642616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379208" y="2642616"/>
            <a:ext cx="274320" cy="274320"/>
          </a:xfrm>
          <a:prstGeom prst="rect">
            <a:avLst/>
          </a:prstGeom>
          <a:solidFill>
            <a:srgbClr val="26A641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726680" y="2642616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074152" y="2642616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89320" y="2990088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336792" y="2990088"/>
            <a:ext cx="274320" cy="274320"/>
          </a:xfrm>
          <a:prstGeom prst="rect">
            <a:avLst/>
          </a:prstGeom>
          <a:solidFill>
            <a:srgbClr val="26A641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684264" y="2990088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031736" y="2990088"/>
            <a:ext cx="274320" cy="274320"/>
          </a:xfrm>
          <a:prstGeom prst="rect">
            <a:avLst/>
          </a:prstGeom>
          <a:solidFill>
            <a:srgbClr val="1B1F23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379208" y="2990088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726680" y="2990088"/>
            <a:ext cx="274320" cy="274320"/>
          </a:xfrm>
          <a:prstGeom prst="rect">
            <a:avLst/>
          </a:prstGeom>
          <a:solidFill>
            <a:srgbClr val="006D3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074152" y="2990088"/>
            <a:ext cx="274320" cy="274320"/>
          </a:xfrm>
          <a:prstGeom prst="rect">
            <a:avLst/>
          </a:prstGeom>
          <a:solidFill>
            <a:srgbClr val="0E4429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76072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조금씩 커밋하면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초록초록해져요 🌱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만든 Repository가 여러분의 첫 포트폴리오입니다.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설치 &amp; 초기 설정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윈도우 키 + R  →  cmd 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아래 명령어 입력 후 Enter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약관 동의 Y → Y  (2번 물어봄)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8437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cmd 닫고 다시 열기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Git.Git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solidFill>
            <a:srgbClr val="555555">
              <a:alpha val="8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0060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Cmd+Space → terminal 열기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892808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0060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brew --version 확인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368296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800600" y="23682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없으면 Homebrew 먼저 설치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843784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800600" y="28437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아래 명령어 입력 후 Enter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337560"/>
            <a:ext cx="402336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26280" y="960120"/>
            <a:ext cx="54864" cy="28346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확인 &amp; 초기 설정  (Windows / Mac 공통)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" y="431596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나라면 어디에 쓸까?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여러분의 상황에서 GitHub를 활용할 수 있는 곳을 생각해보세요.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1148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6184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R&amp;E / 소논문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코드를 어떻게 관리하면 좋을까?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1148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983480" y="16184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프로젝트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명이 코드를 동시에 수정하면 어떻게 될까?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1148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3172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/ 공모전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 과정을 어떻게 증명할 수 있을까?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1148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983480" y="3172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공부 기록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것들을 GitHub에 정리하면 어떤 점이 좋을까?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떠오르는 것이 있으면 자유롭게 발표해주세요!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37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설치 &amp; 초기 설정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윈도우 키 + R  →  cmd 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아래 명령어 입력 후 Enter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약관 동의 Y → Y  (2번 물어봄)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8437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cmd 닫고 다시 열기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Git.Git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solidFill>
            <a:srgbClr val="555555">
              <a:alpha val="8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0060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Cmd+Space → terminal 열기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892808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0060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brew --version 확인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368296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800600" y="23682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없으면 Homebrew 먼저 설치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843784"/>
            <a:ext cx="40233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800600" y="28437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아래 명령어 입력 후 Enter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337560"/>
            <a:ext cx="402336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26280" y="960120"/>
            <a:ext cx="54864" cy="28346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확인 &amp; 초기 설정  (Windows / Mac 공통)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" y="431596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🎉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첫 커밋이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역사의 한 페이지입니다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2926080"/>
            <a:ext cx="457200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28600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79476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'오늘 나는 개발자가 되었다'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있으신가요?  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1263</Words>
  <Application>Microsoft Office PowerPoint</Application>
  <PresentationFormat>화면 슬라이드 쇼(16:9)</PresentationFormat>
  <Paragraphs>284</Paragraphs>
  <Slides>19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특강</dc:title>
  <dc:subject>PptxGenJS Presentation</dc:subject>
  <dc:creator>PptxGenJS</dc:creator>
  <cp:lastModifiedBy>김 진영</cp:lastModifiedBy>
  <cp:revision>4</cp:revision>
  <dcterms:created xsi:type="dcterms:W3CDTF">2026-03-12T01:47:40Z</dcterms:created>
  <dcterms:modified xsi:type="dcterms:W3CDTF">2026-03-17T07:50:44Z</dcterms:modified>
</cp:coreProperties>
</file>